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Cormorant Garamond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ormorantGaramond-bold.fntdata"/><Relationship Id="rId12" Type="http://schemas.openxmlformats.org/officeDocument/2006/relationships/font" Target="fonts/CormorantGaramon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morantGaramond-boldItalic.fntdata"/><Relationship Id="rId14" Type="http://schemas.openxmlformats.org/officeDocument/2006/relationships/font" Target="fonts/CormorantGaramond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slide" Target="slides/slide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2.xml"/><Relationship Id="rId18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grupo e o tema: um buscador de cartas de Magic com interface JavaFX, banco PostgreSQL e arquitetura MVC com DAO.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tela principal funcionando. Trocar o quadro pontilhado por um print da Coleção.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Colocar aqui o diagrama UML do MVC (gerado a partir de docs/diagrama-mvc.puml).</a:t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Colocar aqui o diagrama UML do MVC com DAO (gerado a partir de docs/diagrama-mvc-dao.puml).</a:t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CRUD funcionando nas duas telas. Uma tabela relacionada à outra por TemCarta (usuário e carta).</a:t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Preencher com o nome de cada integrante e a funcionalidade extra que cada um desenvolveu.</a:t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para perguntas e, se der tempo, demonstrar o sistema rodando.</a:t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1B1A2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12800" y="812800"/>
            <a:ext cx="10566400" cy="67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2EA"/>
              </a:buClr>
              <a:buSzPts val="4800"/>
              <a:buFont typeface="Cormorant Garamond"/>
              <a:buNone/>
              <a:defRPr sz="4800">
                <a:solidFill>
                  <a:srgbClr val="F6F2EA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12800" y="1788120"/>
            <a:ext cx="10566400" cy="425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6F2EA"/>
              </a:buClr>
              <a:buSzPts val="1600"/>
              <a:buNone/>
              <a:defRPr sz="1600">
                <a:solidFill>
                  <a:srgbClr val="F6F2EA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A2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12800" y="812800"/>
            <a:ext cx="10566400" cy="67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2EA"/>
              </a:buClr>
              <a:buSzPts val="4800"/>
              <a:buFont typeface="Cormorant Garamond"/>
              <a:buNone/>
              <a:defRPr b="0" i="0" sz="4800" u="none" cap="none" strike="noStrike">
                <a:solidFill>
                  <a:srgbClr val="F6F2EA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2800" y="1788120"/>
            <a:ext cx="10566400" cy="425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6F2E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6F2EA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A2E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812800" y="211455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DM Sans"/>
                <a:ea typeface="DM Sans"/>
                <a:cs typeface="DM Sans"/>
                <a:sym typeface="DM Sans"/>
              </a:rPr>
              <a:t>PROGRAMAÇÃO ORIENTADA A OBJETOS II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12800" y="2653010"/>
            <a:ext cx="1088339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2EA"/>
              </a:buClr>
              <a:buSzPts val="10000"/>
              <a:buFont typeface="Cormorant Garamond"/>
              <a:buNone/>
            </a:pPr>
            <a:r>
              <a:rPr b="1" i="0" lang="en-US" sz="10000">
                <a:solidFill>
                  <a:srgbClr val="F6F2E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Magic Card Tracker</a:t>
            </a:r>
            <a:endParaRPr sz="10000"/>
          </a:p>
        </p:txBody>
      </p:sp>
      <p:sp>
        <p:nvSpPr>
          <p:cNvPr id="23" name="Google Shape;23;p4"/>
          <p:cNvSpPr/>
          <p:nvPr/>
        </p:nvSpPr>
        <p:spPr>
          <a:xfrm>
            <a:off x="812800" y="417701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C6D9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C9C6D9"/>
                </a:solidFill>
                <a:latin typeface="DM Sans"/>
                <a:ea typeface="DM Sans"/>
                <a:cs typeface="DM Sans"/>
                <a:sym typeface="DM Sans"/>
              </a:rPr>
              <a:t>Buscador de cartas de Magic: The Gathering com JavaFX e PostgreSQL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14050" y="622733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6D9"/>
              </a:buClr>
              <a:buSzPts val="1200"/>
              <a:buFont typeface="DM Sans"/>
              <a:buNone/>
            </a:pPr>
            <a:r>
              <a:rPr lang="en-US" sz="1200">
                <a:solidFill>
                  <a:srgbClr val="C9C6D9"/>
                </a:solidFill>
                <a:latin typeface="DM Sans"/>
                <a:ea typeface="DM Sans"/>
                <a:cs typeface="DM Sans"/>
                <a:sym typeface="DM Sans"/>
              </a:rPr>
              <a:t>Daniel de Almeida Filho e Eduardo Auda Scislowski</a:t>
            </a:r>
            <a:endParaRPr b="0" i="0" sz="1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12800" y="812800"/>
            <a:ext cx="10883392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4800"/>
              <a:buFont typeface="Cormorant Garamond"/>
              <a:buNone/>
            </a:pPr>
            <a:r>
              <a:rPr b="1" i="0" lang="en-US" sz="4800">
                <a:solidFill>
                  <a:srgbClr val="1B1A2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 projeto</a:t>
            </a:r>
            <a:endParaRPr sz="4800"/>
          </a:p>
        </p:txBody>
      </p:sp>
      <p:sp>
        <p:nvSpPr>
          <p:cNvPr id="31" name="Google Shape;31;p5"/>
          <p:cNvSpPr/>
          <p:nvPr/>
        </p:nvSpPr>
        <p:spPr>
          <a:xfrm>
            <a:off x="812800" y="1788120"/>
            <a:ext cx="5232400" cy="985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Cada jogador monta a sua coleção de cartas de Magic e busca o que ainda falta, com filtros combinados.</a:t>
            </a:r>
            <a:endParaRPr b="0" i="0" sz="18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876808" y="2925862"/>
            <a:ext cx="5160772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Char char="•"/>
            </a:pPr>
            <a:r>
              <a:rPr b="0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Login e cadastro de usuários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Char char="•"/>
            </a:pPr>
            <a:r>
              <a:rPr b="0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Coleção com imagens das cartas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Char char="•"/>
            </a:pPr>
            <a:r>
              <a:rPr b="0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Filtro por nome, tipo, cor, dano e resistência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Char char="•"/>
            </a:pPr>
            <a:r>
              <a:rPr b="0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Cadastro de cartas com imagem no banco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308725" y="1797645"/>
            <a:ext cx="5060950" cy="4034830"/>
          </a:xfrm>
          <a:prstGeom prst="roundRect">
            <a:avLst>
              <a:gd fmla="val 2282" name="adj"/>
            </a:avLst>
          </a:prstGeom>
          <a:solidFill>
            <a:srgbClr val="E7E0D1"/>
          </a:solidFill>
          <a:ln cap="flat" cmpd="sng" w="19050">
            <a:solidFill>
              <a:srgbClr val="8A867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410525" spcFirstLastPara="1" rIns="410525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[Inserir screenshot da tela Coleção]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" name="Google Shape;3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725" y="1797651"/>
            <a:ext cx="5060951" cy="4034825"/>
          </a:xfrm>
          <a:prstGeom prst="rect">
            <a:avLst/>
          </a:prstGeom>
          <a:solidFill>
            <a:srgbClr val="E7E0D1"/>
          </a:solidFill>
          <a:ln cap="flat" cmpd="sng" w="19050">
            <a:solidFill>
              <a:srgbClr val="8A867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A2E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12800" y="812800"/>
            <a:ext cx="10883392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2EA"/>
              </a:buClr>
              <a:buSzPts val="4800"/>
              <a:buFont typeface="Cormorant Garamond"/>
              <a:buNone/>
            </a:pPr>
            <a:r>
              <a:rPr b="1" i="0" lang="en-US" sz="4800">
                <a:solidFill>
                  <a:srgbClr val="F6F2E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Arquitetura MVC</a:t>
            </a:r>
            <a:endParaRPr sz="4800"/>
          </a:p>
        </p:txBody>
      </p:sp>
      <p:sp>
        <p:nvSpPr>
          <p:cNvPr id="41" name="Google Shape;41;p6"/>
          <p:cNvSpPr/>
          <p:nvPr/>
        </p:nvSpPr>
        <p:spPr>
          <a:xfrm>
            <a:off x="812800" y="1788120"/>
            <a:ext cx="3386634" cy="4053880"/>
          </a:xfrm>
          <a:prstGeom prst="roundRect">
            <a:avLst>
              <a:gd fmla="val 3000" name="adj"/>
            </a:avLst>
          </a:prstGeom>
          <a:solidFill>
            <a:srgbClr val="272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12800" y="1788120"/>
            <a:ext cx="3386634" cy="4053880"/>
          </a:xfrm>
          <a:custGeom>
            <a:rect b="b" l="l" r="r" t="t"/>
            <a:pathLst>
              <a:path extrusionOk="0" h="4053880" w="3386634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3285034" y="0"/>
                </a:lnTo>
                <a:cubicBezTo>
                  <a:pt x="3311980" y="0"/>
                  <a:pt x="3337822" y="10704"/>
                  <a:pt x="3356876" y="29758"/>
                </a:cubicBezTo>
                <a:cubicBezTo>
                  <a:pt x="3375930" y="48812"/>
                  <a:pt x="3386634" y="74654"/>
                  <a:pt x="3386634" y="101600"/>
                </a:cubicBezTo>
                <a:lnTo>
                  <a:pt x="3386634" y="101600"/>
                </a:lnTo>
                <a:cubicBezTo>
                  <a:pt x="3386634" y="73544"/>
                  <a:pt x="3341146" y="50800"/>
                  <a:pt x="3285034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1066800" y="2092920"/>
            <a:ext cx="2964993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200"/>
              <a:buFont typeface="DM Sans"/>
              <a:buNone/>
            </a:pPr>
            <a:r>
              <a:rPr b="1" i="0" lang="en-US" sz="2200" u="none" cap="none" strike="noStrike">
                <a:solidFill>
                  <a:srgbClr val="E8A33D"/>
                </a:solidFill>
                <a:latin typeface="DM Sans"/>
                <a:ea typeface="DM Sans"/>
                <a:cs typeface="DM Sans"/>
                <a:sym typeface="DM Sans"/>
              </a:rPr>
              <a:t>Model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1066800" y="2555180"/>
            <a:ext cx="296499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Carta, Usuario e os atributos Tipo, Supertipo, Subtipo e Cor. Só guardam dados.</a:t>
            </a:r>
            <a:endParaRPr b="0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402634" y="1788120"/>
            <a:ext cx="3386733" cy="4053880"/>
          </a:xfrm>
          <a:prstGeom prst="roundRect">
            <a:avLst>
              <a:gd fmla="val 3000" name="adj"/>
            </a:avLst>
          </a:prstGeom>
          <a:solidFill>
            <a:srgbClr val="272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4402634" y="1788120"/>
            <a:ext cx="3386733" cy="4053880"/>
          </a:xfrm>
          <a:custGeom>
            <a:rect b="b" l="l" r="r" t="t"/>
            <a:pathLst>
              <a:path extrusionOk="0" h="4053880" w="3386733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3285133" y="0"/>
                </a:lnTo>
                <a:cubicBezTo>
                  <a:pt x="3312079" y="0"/>
                  <a:pt x="3337921" y="10704"/>
                  <a:pt x="3356975" y="29758"/>
                </a:cubicBezTo>
                <a:cubicBezTo>
                  <a:pt x="3376029" y="48812"/>
                  <a:pt x="3386733" y="74654"/>
                  <a:pt x="3386733" y="101600"/>
                </a:cubicBezTo>
                <a:lnTo>
                  <a:pt x="3386733" y="101600"/>
                </a:lnTo>
                <a:cubicBezTo>
                  <a:pt x="3386733" y="73544"/>
                  <a:pt x="3341245" y="50800"/>
                  <a:pt x="3285133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4656634" y="2092920"/>
            <a:ext cx="2965095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C4BC"/>
              </a:buClr>
              <a:buSzPts val="2200"/>
              <a:buFont typeface="DM Sans"/>
              <a:buNone/>
            </a:pPr>
            <a:r>
              <a:rPr b="1" i="0" lang="en-US" sz="2200" u="none" cap="none" strike="noStrike">
                <a:solidFill>
                  <a:srgbClr val="5CC4BC"/>
                </a:solidFill>
                <a:latin typeface="DM Sans"/>
                <a:ea typeface="DM Sans"/>
                <a:cs typeface="DM Sans"/>
                <a:sym typeface="DM Sans"/>
              </a:rPr>
              <a:t>View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4656634" y="2555180"/>
            <a:ext cx="296509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Telas em FXML: Login, Coleção, Cadastro de carta e Editar usuário.</a:t>
            </a:r>
            <a:endParaRPr b="0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7992566" y="1788120"/>
            <a:ext cx="3386634" cy="4053880"/>
          </a:xfrm>
          <a:prstGeom prst="roundRect">
            <a:avLst>
              <a:gd fmla="val 3000" name="adj"/>
            </a:avLst>
          </a:prstGeom>
          <a:solidFill>
            <a:srgbClr val="272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7992566" y="1788120"/>
            <a:ext cx="3386634" cy="4053880"/>
          </a:xfrm>
          <a:custGeom>
            <a:rect b="b" l="l" r="r" t="t"/>
            <a:pathLst>
              <a:path extrusionOk="0" h="4053880" w="3386634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3285034" y="0"/>
                </a:lnTo>
                <a:cubicBezTo>
                  <a:pt x="3311980" y="0"/>
                  <a:pt x="3337822" y="10704"/>
                  <a:pt x="3356876" y="29758"/>
                </a:cubicBezTo>
                <a:cubicBezTo>
                  <a:pt x="3375930" y="48812"/>
                  <a:pt x="3386634" y="74654"/>
                  <a:pt x="3386634" y="101600"/>
                </a:cubicBezTo>
                <a:lnTo>
                  <a:pt x="3386634" y="101600"/>
                </a:lnTo>
                <a:cubicBezTo>
                  <a:pt x="3386634" y="73544"/>
                  <a:pt x="3341146" y="50800"/>
                  <a:pt x="3285034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F6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8246566" y="2092920"/>
            <a:ext cx="2964993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2EA"/>
              </a:buClr>
              <a:buSzPts val="2200"/>
              <a:buFont typeface="DM Sans"/>
              <a:buNone/>
            </a:pPr>
            <a:r>
              <a:rPr b="1" i="0" lang="en-US" sz="2200" u="none" cap="none" strike="noStrike">
                <a:solidFill>
                  <a:srgbClr val="F6F2EA"/>
                </a:solidFill>
                <a:latin typeface="DM Sans"/>
                <a:ea typeface="DM Sans"/>
                <a:cs typeface="DM Sans"/>
                <a:sym typeface="DM Sans"/>
              </a:rPr>
              <a:t>Controller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8246566" y="2555180"/>
            <a:ext cx="296499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Um por tela. Lê os campos, valida, chama o DAO e mostra o resultado.</a:t>
            </a:r>
            <a:endParaRPr b="0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812800" y="812800"/>
            <a:ext cx="10883392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4800"/>
              <a:buFont typeface="Cormorant Garamond"/>
              <a:buNone/>
            </a:pPr>
            <a:r>
              <a:rPr b="1" i="0" lang="en-US" sz="4800">
                <a:solidFill>
                  <a:srgbClr val="1B1A2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MVC com DAO</a:t>
            </a:r>
            <a:endParaRPr sz="4800"/>
          </a:p>
        </p:txBody>
      </p:sp>
      <p:sp>
        <p:nvSpPr>
          <p:cNvPr id="59" name="Google Shape;59;p7"/>
          <p:cNvSpPr/>
          <p:nvPr/>
        </p:nvSpPr>
        <p:spPr>
          <a:xfrm>
            <a:off x="819150" y="2009080"/>
            <a:ext cx="1699220" cy="852091"/>
          </a:xfrm>
          <a:prstGeom prst="roundRect">
            <a:avLst>
              <a:gd fmla="val 11178" name="adj"/>
            </a:avLst>
          </a:prstGeom>
          <a:solidFill>
            <a:srgbClr val="FFFDF8"/>
          </a:solidFill>
          <a:ln cap="flat" cmpd="sng" w="12700">
            <a:solidFill>
              <a:srgbClr val="1B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977900" y="2167830"/>
            <a:ext cx="143252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View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977900" y="2487811"/>
            <a:ext cx="143252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Telas FXML</a:t>
            </a:r>
            <a:endParaRPr b="0" i="0" sz="13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rrow-right"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6320" y="2346226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3039070" y="2009080"/>
            <a:ext cx="1699320" cy="852091"/>
          </a:xfrm>
          <a:prstGeom prst="roundRect">
            <a:avLst>
              <a:gd fmla="val 11178" name="adj"/>
            </a:avLst>
          </a:prstGeom>
          <a:solidFill>
            <a:srgbClr val="FFFDF8"/>
          </a:solidFill>
          <a:ln cap="flat" cmpd="sng" w="12700">
            <a:solidFill>
              <a:srgbClr val="1B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3197820" y="2167830"/>
            <a:ext cx="143262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Controller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3197820" y="2487811"/>
            <a:ext cx="143262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Um por tela</a:t>
            </a:r>
            <a:endParaRPr b="0" i="0" sz="13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rrow-right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40" y="2346226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5259090" y="1794470"/>
            <a:ext cx="1699220" cy="1281311"/>
          </a:xfrm>
          <a:prstGeom prst="roundRect">
            <a:avLst>
              <a:gd fmla="val 7434" name="adj"/>
            </a:avLst>
          </a:prstGeom>
          <a:solidFill>
            <a:srgbClr val="FFFDF8"/>
          </a:solidFill>
          <a:ln cap="flat" cmpd="sng" w="12700">
            <a:solidFill>
              <a:srgbClr val="1B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5417840" y="1953220"/>
            <a:ext cx="143252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Interface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5417840" y="2273201"/>
            <a:ext cx="1432520" cy="6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ICarta, IUsuario, IColecao, IConsulta</a:t>
            </a:r>
            <a:endParaRPr b="0" i="0" sz="13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rrow-right" id="70" name="Google Shape;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260" y="2346226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7479010" y="1794470"/>
            <a:ext cx="1699320" cy="1281311"/>
          </a:xfrm>
          <a:prstGeom prst="roundRect">
            <a:avLst>
              <a:gd fmla="val 7434" name="adj"/>
            </a:avLst>
          </a:prstGeom>
          <a:solidFill>
            <a:srgbClr val="FFFDF8"/>
          </a:solidFill>
          <a:ln cap="flat" cmpd="sng" w="12700">
            <a:solidFill>
              <a:srgbClr val="1B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7637760" y="1953220"/>
            <a:ext cx="143262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DAO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637760" y="2273201"/>
            <a:ext cx="1432620" cy="6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CartaDAO, UsuarioDAO, ColecaoDAO</a:t>
            </a:r>
            <a:endParaRPr b="0" i="0" sz="13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rrow-right" id="74" name="Google Shape;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6280" y="2346226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/>
          <p:nvPr/>
        </p:nvSpPr>
        <p:spPr>
          <a:xfrm>
            <a:off x="9692680" y="2015430"/>
            <a:ext cx="1686520" cy="839391"/>
          </a:xfrm>
          <a:prstGeom prst="roundRect">
            <a:avLst>
              <a:gd fmla="val 12104" name="adj"/>
            </a:avLst>
          </a:prstGeom>
          <a:solidFill>
            <a:srgbClr val="1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9845080" y="2167830"/>
            <a:ext cx="143252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DM Sans"/>
                <a:ea typeface="DM Sans"/>
                <a:cs typeface="DM Sans"/>
                <a:sym typeface="DM Sans"/>
              </a:rPr>
              <a:t>Banco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9845080" y="2487811"/>
            <a:ext cx="143252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PostgreSQL</a:t>
            </a:r>
            <a:endParaRPr b="0" i="0" sz="13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76808" y="3386931"/>
            <a:ext cx="10811764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Char char="•"/>
            </a:pPr>
            <a:r>
              <a:rPr b="0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O controller só conhece a interface, nunca o SQL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Char char="•"/>
            </a:pPr>
            <a:r>
              <a:rPr b="0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Todo acesso ao banco usa PreparedStatement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1600"/>
              <a:buFont typeface="DM Sans"/>
              <a:buChar char="•"/>
            </a:pPr>
            <a:r>
              <a:rPr b="0" i="0" lang="en-US" sz="16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O DAO lança SQLException e o controller mostra a mensagem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812800" y="812800"/>
            <a:ext cx="10883392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2EA"/>
              </a:buClr>
              <a:buSzPts val="4800"/>
              <a:buFont typeface="Cormorant Garamond"/>
              <a:buNone/>
            </a:pPr>
            <a:r>
              <a:rPr b="1" i="0" lang="en-US" sz="4800">
                <a:solidFill>
                  <a:srgbClr val="F6F2E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CRUD das duas tabelas</a:t>
            </a:r>
            <a:endParaRPr sz="4800"/>
          </a:p>
        </p:txBody>
      </p:sp>
      <p:sp>
        <p:nvSpPr>
          <p:cNvPr id="85" name="Google Shape;85;p8"/>
          <p:cNvSpPr/>
          <p:nvPr/>
        </p:nvSpPr>
        <p:spPr>
          <a:xfrm>
            <a:off x="812800" y="1788120"/>
            <a:ext cx="5181600" cy="4053880"/>
          </a:xfrm>
          <a:prstGeom prst="roundRect">
            <a:avLst>
              <a:gd fmla="val 2506" name="adj"/>
            </a:avLst>
          </a:prstGeom>
          <a:solidFill>
            <a:srgbClr val="272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812800" y="1788120"/>
            <a:ext cx="5181600" cy="4053880"/>
          </a:xfrm>
          <a:custGeom>
            <a:rect b="b" l="l" r="r" t="t"/>
            <a:pathLst>
              <a:path extrusionOk="0" h="4053880" w="51816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80000" y="0"/>
                </a:lnTo>
                <a:cubicBezTo>
                  <a:pt x="5106946" y="0"/>
                  <a:pt x="5132788" y="10704"/>
                  <a:pt x="5151842" y="29758"/>
                </a:cubicBezTo>
                <a:cubicBezTo>
                  <a:pt x="5170896" y="48812"/>
                  <a:pt x="5181600" y="74654"/>
                  <a:pt x="5181600" y="101600"/>
                </a:cubicBezTo>
                <a:lnTo>
                  <a:pt x="5181600" y="101600"/>
                </a:lnTo>
                <a:cubicBezTo>
                  <a:pt x="5181600" y="73544"/>
                  <a:pt x="5136112" y="50800"/>
                  <a:pt x="50800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1066800" y="2092920"/>
            <a:ext cx="4813808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200"/>
              <a:buFont typeface="DM Sans"/>
              <a:buNone/>
            </a:pPr>
            <a:r>
              <a:rPr b="1" i="0" lang="en-US" sz="2200" u="none" cap="none" strike="noStrike">
                <a:solidFill>
                  <a:srgbClr val="E8A33D"/>
                </a:solidFill>
                <a:latin typeface="DM Sans"/>
                <a:ea typeface="DM Sans"/>
                <a:cs typeface="DM Sans"/>
                <a:sym typeface="DM Sans"/>
              </a:rPr>
              <a:t>Carta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066800" y="2555180"/>
            <a:ext cx="4813808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Novo, Buscar, Atualizar e Excluir pelo nome da carta. </a:t>
            </a:r>
            <a:endParaRPr b="0" i="0" sz="1500" u="none" cap="none" strike="noStrike">
              <a:solidFill>
                <a:srgbClr val="DAD7E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A imagem fica no banco.</a:t>
            </a:r>
            <a:endParaRPr b="0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66800" y="3215580"/>
            <a:ext cx="481380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Leitura em tabela de imagens na tela Coleção.</a:t>
            </a:r>
            <a:endParaRPr b="0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197600" y="1788120"/>
            <a:ext cx="5181600" cy="4053880"/>
          </a:xfrm>
          <a:prstGeom prst="roundRect">
            <a:avLst>
              <a:gd fmla="val 2506" name="adj"/>
            </a:avLst>
          </a:prstGeom>
          <a:solidFill>
            <a:srgbClr val="272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6197600" y="1788120"/>
            <a:ext cx="5181600" cy="4053880"/>
          </a:xfrm>
          <a:custGeom>
            <a:rect b="b" l="l" r="r" t="t"/>
            <a:pathLst>
              <a:path extrusionOk="0" h="4053880" w="51816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80000" y="0"/>
                </a:lnTo>
                <a:cubicBezTo>
                  <a:pt x="5106946" y="0"/>
                  <a:pt x="5132788" y="10704"/>
                  <a:pt x="5151842" y="29758"/>
                </a:cubicBezTo>
                <a:cubicBezTo>
                  <a:pt x="5170896" y="48812"/>
                  <a:pt x="5181600" y="74654"/>
                  <a:pt x="5181600" y="101600"/>
                </a:cubicBezTo>
                <a:lnTo>
                  <a:pt x="5181600" y="101600"/>
                </a:lnTo>
                <a:cubicBezTo>
                  <a:pt x="5181600" y="73544"/>
                  <a:pt x="5136112" y="50800"/>
                  <a:pt x="50800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6451600" y="2092920"/>
            <a:ext cx="4813808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C4BC"/>
              </a:buClr>
              <a:buSzPts val="2200"/>
              <a:buFont typeface="DM Sans"/>
              <a:buNone/>
            </a:pPr>
            <a:r>
              <a:rPr b="1" i="0" lang="en-US" sz="2200" u="none" cap="none" strike="noStrike">
                <a:solidFill>
                  <a:srgbClr val="5CC4BC"/>
                </a:solidFill>
                <a:latin typeface="DM Sans"/>
                <a:ea typeface="DM Sans"/>
                <a:cs typeface="DM Sans"/>
                <a:sym typeface="DM Sans"/>
              </a:rPr>
              <a:t>Usuário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451600" y="2555180"/>
            <a:ext cx="49276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Novo, Salvar, Atualizar e Excluir na tela Editar usuário.</a:t>
            </a:r>
            <a:endParaRPr b="0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451600" y="2948880"/>
            <a:ext cx="481380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D7E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DAD7E8"/>
                </a:solidFill>
                <a:latin typeface="DM Sans"/>
                <a:ea typeface="DM Sans"/>
                <a:cs typeface="DM Sans"/>
                <a:sym typeface="DM Sans"/>
              </a:rPr>
              <a:t>Leitura em TableView com id e nome.</a:t>
            </a:r>
            <a:endParaRPr b="0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812800" y="812800"/>
            <a:ext cx="10883392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4800"/>
              <a:buFont typeface="Cormorant Garamond"/>
              <a:buNone/>
            </a:pPr>
            <a:r>
              <a:rPr b="1" i="0" lang="en-US" sz="4800">
                <a:solidFill>
                  <a:srgbClr val="1B1A2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Funcionalidades extras</a:t>
            </a:r>
            <a:endParaRPr sz="4800"/>
          </a:p>
        </p:txBody>
      </p:sp>
      <p:sp>
        <p:nvSpPr>
          <p:cNvPr id="101" name="Google Shape;101;p9"/>
          <p:cNvSpPr/>
          <p:nvPr/>
        </p:nvSpPr>
        <p:spPr>
          <a:xfrm>
            <a:off x="819150" y="1794470"/>
            <a:ext cx="5168900" cy="4041180"/>
          </a:xfrm>
          <a:prstGeom prst="roundRect">
            <a:avLst>
              <a:gd fmla="val 2357" name="adj"/>
            </a:avLst>
          </a:prstGeom>
          <a:solidFill>
            <a:srgbClr val="FFFDF8"/>
          </a:solidFill>
          <a:ln cap="flat" cmpd="sng" w="12700">
            <a:solidFill>
              <a:srgbClr val="1B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1079500" y="2054820"/>
            <a:ext cx="4787646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2200"/>
              <a:buFont typeface="DM Sans"/>
              <a:buNone/>
            </a:pPr>
            <a:r>
              <a:rPr b="1" i="0" lang="en-US" sz="22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[Nome do integrante 1]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1079500" y="2517080"/>
            <a:ext cx="478764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[Extra 1, por exemplo: busca com filtros combinados]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6203950" y="1794470"/>
            <a:ext cx="5168900" cy="4041180"/>
          </a:xfrm>
          <a:prstGeom prst="roundRect">
            <a:avLst>
              <a:gd fmla="val 2357" name="adj"/>
            </a:avLst>
          </a:prstGeom>
          <a:solidFill>
            <a:srgbClr val="FFFDF8"/>
          </a:solidFill>
          <a:ln cap="flat" cmpd="sng" w="12700">
            <a:solidFill>
              <a:srgbClr val="1B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6464300" y="2054820"/>
            <a:ext cx="4787646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ts val="2200"/>
              <a:buFont typeface="DM Sans"/>
              <a:buNone/>
            </a:pPr>
            <a:r>
              <a:rPr b="1" i="0" lang="en-US" sz="2200" u="none" cap="none" strike="noStrike">
                <a:solidFill>
                  <a:srgbClr val="1B1A2E"/>
                </a:solidFill>
                <a:latin typeface="DM Sans"/>
                <a:ea typeface="DM Sans"/>
                <a:cs typeface="DM Sans"/>
                <a:sym typeface="DM Sans"/>
              </a:rPr>
              <a:t>[Nome do integrante 2]</a:t>
            </a:r>
            <a:endParaRPr b="0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464300" y="2517080"/>
            <a:ext cx="478764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6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4860"/>
                </a:solidFill>
                <a:latin typeface="DM Sans"/>
                <a:ea typeface="DM Sans"/>
                <a:cs typeface="DM Sans"/>
                <a:sym typeface="DM Sans"/>
              </a:rPr>
              <a:t>[Extra 2, por exemplo: carga de um deck pela API do Scryfall]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A33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type="title"/>
          </p:nvPr>
        </p:nvSpPr>
        <p:spPr>
          <a:xfrm>
            <a:off x="812800" y="2536230"/>
            <a:ext cx="10883392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A2E"/>
              </a:buClr>
              <a:buSzPct val="100000"/>
              <a:buFont typeface="Cormorant Garamond"/>
              <a:buNone/>
            </a:pPr>
            <a:r>
              <a:rPr b="1" i="0" lang="en-US" sz="8000">
                <a:solidFill>
                  <a:srgbClr val="1B1A2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Obrigado!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gic Card Tracker">
  <a:themeElements>
    <a:clrScheme name="Magic Card Tracker">
      <a:dk1>
        <a:srgbClr val="1B1A2E"/>
      </a:dk1>
      <a:lt1>
        <a:srgbClr val="F6F2EA"/>
      </a:lt1>
      <a:dk2>
        <a:srgbClr val="313041"/>
      </a:dk2>
      <a:lt2>
        <a:srgbClr val="BFBCBB"/>
      </a:lt2>
      <a:accent1>
        <a:srgbClr val="E8A33D"/>
      </a:accent1>
      <a:accent2>
        <a:srgbClr val="5CC4BC"/>
      </a:accent2>
      <a:accent3>
        <a:srgbClr val="4A4860"/>
      </a:accent3>
      <a:accent4>
        <a:srgbClr val="DAD7E8"/>
      </a:accent4>
      <a:accent5>
        <a:srgbClr val="27254A"/>
      </a:accent5>
      <a:accent6>
        <a:srgbClr val="C9C6D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gic Card Tracker">
  <a:themeElements>
    <a:clrScheme name="Magic Card Tracker">
      <a:dk1>
        <a:srgbClr val="1B1A2E"/>
      </a:dk1>
      <a:lt1>
        <a:srgbClr val="F6F2EA"/>
      </a:lt1>
      <a:dk2>
        <a:srgbClr val="313041"/>
      </a:dk2>
      <a:lt2>
        <a:srgbClr val="BFBCBB"/>
      </a:lt2>
      <a:accent1>
        <a:srgbClr val="E8A33D"/>
      </a:accent1>
      <a:accent2>
        <a:srgbClr val="5CC4BC"/>
      </a:accent2>
      <a:accent3>
        <a:srgbClr val="4A4860"/>
      </a:accent3>
      <a:accent4>
        <a:srgbClr val="DAD7E8"/>
      </a:accent4>
      <a:accent5>
        <a:srgbClr val="27254A"/>
      </a:accent5>
      <a:accent6>
        <a:srgbClr val="C9C6D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